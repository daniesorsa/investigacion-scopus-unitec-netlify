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DM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bd4d0987-bdbe-4697-94f4-79f96d125257.fntdata" /><ns0:Relationship Id="rIdFont20" Type="http://schemas.openxmlformats.org/officeDocument/2006/relationships/font" Target="fonts/3a36150d-af67-49de-931a-b49ca19f6154.fntdata" /><ns0:Relationship Id="rIdFont21" Type="http://schemas.openxmlformats.org/officeDocument/2006/relationships/font" Target="fonts/f5ac1fa3-9612-4d96-8c58-503452e4f2be.fntdata" /><ns0:Relationship Id="rIdFont22" Type="http://schemas.openxmlformats.org/officeDocument/2006/relationships/font" Target="fonts/0f0bbea0-5da7-4d82-9a39-a08a3f8dda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572125"/>
            <a:ext cx="106680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14875"/>
            <a:ext cx="685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5721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600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PLANTILLA GENERAL BIBLIOMÉTRICA • REPORTE SCOPUS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3900" y="609600"/>
            <a:ext cx="3848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ARCHIVO: Mejia_Kevin_2026-08-29.xlsx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5737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59E0B"/>
                </a:solidFill>
                <a:latin typeface="DM Sans"/>
              </a:rPr>
              <a:t>PERFIL ACADÉMICO E INDICADORES DE PRODUCCIÓN 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8375"/>
            <a:ext cx="9701212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F8FAFC"/>
                </a:solidFill>
                <a:latin typeface="DM Sans"/>
              </a:rPr>
              <a:t>Estadísticas de Producción, Citación y Colaboración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57625"/>
            <a:ext cx="7905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CBD5E1"/>
                </a:solidFill>
                <a:latin typeface="DM Sans"/>
              </a:rPr>
              <a:t>Análisis integral de metadatos Scopus, métricas descriptivas anuales y redes de coautoría institucional para evaluación investigativa.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10250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INVESTIGADOR EVALUADO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19800"/>
            <a:ext cx="3262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DM Sans"/>
              </a:rPr>
              <a:t>Kevin Mejía Rivera (Rivera K.M.)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9050" y="5810250"/>
            <a:ext cx="196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IDENTIFICADOR SCOPUS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9050" y="6019800"/>
            <a:ext cx="1964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ID: 57216847118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7875" y="5810250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INSTITUCIÓN Y UNIDAD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7875" y="6019800"/>
            <a:ext cx="3571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DM Sans"/>
              </a:rPr>
              <a:t>UNITEC • Escuela de Arte y Diseño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533525"/>
            <a:ext cx="10972800" cy="425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72150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335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93256" y="2709862"/>
            <a:ext cx="9525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1237" y="2709862"/>
            <a:ext cx="9525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89218" y="2709862"/>
            <a:ext cx="9525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01 / SÍNTESIS EJECUTIVA DEL ARCHIVO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Indicadores Clave del Perfil Científico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72200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Estructura del archivo fuente dividida en 3 hojas: Principal (30 campos), Estadísticas y Colaboraciones.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0725" y="6191250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JetBrains Mono"/>
              </a:rPr>
              <a:t>EID: 2-s2.0-85084950839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71762"/>
            <a:ext cx="2848570" cy="1057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300" i="0" u="none">
                <a:solidFill>
                  <a:srgbClr val="1E40AF"/>
                </a:solidFill>
                <a:latin typeface="JetBrai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843337"/>
            <a:ext cx="299099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Publicación Indexada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195762"/>
            <a:ext cx="2374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Artículo IEEE CONCAPAN 2019 en etapa final.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7581" y="2671762"/>
            <a:ext cx="2848570" cy="1057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300" i="0" u="none">
                <a:solidFill>
                  <a:srgbClr val="0284C7"/>
                </a:solidFill>
                <a:latin typeface="JetBrains Mon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7581" y="3843337"/>
            <a:ext cx="299099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Cita Acumulada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7581" y="4195762"/>
            <a:ext cx="2374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Impacto verificado en base Scopus.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62" y="2671762"/>
            <a:ext cx="2848570" cy="1057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300" i="0" u="none">
                <a:solidFill>
                  <a:srgbClr val="059669"/>
                </a:solidFill>
                <a:latin typeface="JetBrai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562" y="3843337"/>
            <a:ext cx="299099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Coautores Internos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5562" y="4195762"/>
            <a:ext cx="2374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Articulación entre tres unidades de UNITEC.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3543" y="2671762"/>
            <a:ext cx="2848570" cy="1057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300" i="0" u="none">
                <a:solidFill>
                  <a:srgbClr val="D97706"/>
                </a:solidFill>
                <a:latin typeface="JetBrains Mon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543" y="3843337"/>
            <a:ext cx="28884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Redes Externas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543" y="4195762"/>
            <a:ext cx="2374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Sin afiliaciones externas registradas.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76462"/>
            <a:ext cx="8191500" cy="2505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176462"/>
            <a:ext cx="57150" cy="25050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0150" y="2176462"/>
            <a:ext cx="969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JetBrains Mono"/>
              </a:rPr>
              <a:t>SECCIÓN 01 • HOJA ESTADÍSTICAS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150" y="2547937"/>
            <a:ext cx="8241030" cy="135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4050" i="0" u="none">
                <a:solidFill>
                  <a:srgbClr val="0F172A"/>
                </a:solidFill>
                <a:latin typeface="DM Sans"/>
              </a:rPr>
              <a:t>Producción Científica y Métricas Descriptivas Anuales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150" y="4129087"/>
            <a:ext cx="78486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DM Sans"/>
              </a:rPr>
              <a:t>Evaluación cuantitativa de volumen publicado, citación recibida, medidas de tendencia central y dispersión interanual.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02 / VISUALIZACIÓN DE HOJA ESTADÍSTICAS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Comportamiento de Métricas Anuales (Año 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72125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10972800" cy="3924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19225"/>
          <a:ext cx="10972798" cy="3924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60675"/>
                <a:gridCol w="2960935"/>
                <a:gridCol w="1911101"/>
                <a:gridCol w="2840087"/>
              </a:tblGrid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Métrica Estadística (Hoja Estadísticas)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Cantidad de Publicaciones (Anual)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Citas Totales (Anual)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Interpretación Técnica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Producción y Citas (Año 2019)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Año activo único registrado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Promedio (Media)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Relación 1.0 citas por publicación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Varianza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Concentración en un solo año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Desviación Estándar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Ausencia de variación interanual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Moda (Sin moda = -1)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JetBrains Mono"/>
                        </a:rPr>
                        <a:t>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JetBrains Mono"/>
                        </a:rPr>
                        <a:t>-1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Valor estándar para serie sin moda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03 / DATOS EXACTOS DE LA HOJA ESTADÍSTICAS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Tablas Oficiales de Producción, Estadísticas y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3700" y="5843587"/>
            <a:ext cx="10858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40AF"/>
                </a:solidFill>
                <a:latin typeface="JetBrains Mono"/>
              </a:rPr>
              <a:t>1 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762625"/>
            <a:ext cx="8501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DM Sans"/>
              </a:rPr>
              <a:t>RANKING DE PUBLICACIONES POR CITAS (POSICIÓN #1)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972175"/>
            <a:ext cx="8501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Digital heritage: An inventory of scientific journals in Honduras (Año 2019)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04 / RENDIMIENTO DE IMPACTO ACADÉMICO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Efectividad de Citación en Base Scopus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1500" y="2466975"/>
            <a:ext cx="3429000" cy="1504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0" i="0" u="none">
                <a:solidFill>
                  <a:srgbClr val="1E40AF"/>
                </a:solidFill>
                <a:latin typeface="JetBrains Mono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6691" y="4124325"/>
            <a:ext cx="893861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DM Sans"/>
              </a:rPr>
              <a:t>Tasa de Conversión de Publicación a Cita Registrada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4591050"/>
            <a:ext cx="80962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DM Sans"/>
              </a:rPr>
              <a:t>El documento indexado en IEEE CONCAPAN 2019 mantiene citación activa verificada e índice h equivalente a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4587"/>
            <a:ext cx="5676900" cy="3028950"/>
          </a:xfrm>
          <a:prstGeom prst="roundRect">
            <a:avLst>
              <a:gd name="adj" fmla="val 37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0600" y="4700587"/>
            <a:ext cx="49149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500" y="2257425"/>
            <a:ext cx="4914900" cy="10668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0" y="3514725"/>
            <a:ext cx="4914900" cy="10668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7500" y="4772025"/>
            <a:ext cx="49149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0600" y="4700587"/>
            <a:ext cx="4914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05 / METADATOS DE LA HOJA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Ficha Técnica del Registro Bibliográfico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79558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CONFERENCE PAPER • ETAPA FINAL 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157537"/>
            <a:ext cx="5260657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DM Sans"/>
              </a:rPr>
              <a:t>Digital heritage: An inventory of scientific journals in Honduras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052887"/>
            <a:ext cx="501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Publicado en: 2019 IEEE 39th Central America and Panama Convention (CONCAPAN 2019).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862512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59E0B"/>
                </a:solidFill>
                <a:latin typeface="JetBrains Mono"/>
              </a:rPr>
              <a:t>DOI: 10.1109/CONCAPANXXXIX47272.2019.8977056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2447925"/>
            <a:ext cx="5295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DM Sans"/>
              </a:rPr>
              <a:t>EDITORIAL E IDENTIFICADORES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2657475"/>
            <a:ext cx="45529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IEEE Inc. • ISBN: 978-172810883-4 • Art. No. 8977056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3705225"/>
            <a:ext cx="5295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DM Sans"/>
              </a:rPr>
              <a:t>VOLUMEN E IDIOMA 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3914775"/>
            <a:ext cx="45529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Volumen: 2019-November • Idioma: Español (Spanish)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6100" y="4962525"/>
            <a:ext cx="5295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DM Sans"/>
              </a:rPr>
              <a:t>FUENTE Y CÓDIGO EID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100" y="5172075"/>
            <a:ext cx="5295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Base de Datos Scopus • EID: 2-s2.0-85084950839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25717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28900"/>
            <a:ext cx="25717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28900"/>
            <a:ext cx="25717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28900"/>
            <a:ext cx="25717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37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93370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9337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2933700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06 / CLASIFICACIÓN TEMÁTICA (8 AUTHOR KEYWORDS)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Ejes de Investigación del Documento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00750"/>
            <a:ext cx="1106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JetBrains Mono"/>
              </a:rPr>
              <a:t>Palabras clave exactas: Analytics • Business Intelligence • Data Analysis • Databases • Digital Heritage • ICT • Inventory • Tableau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390900"/>
            <a:ext cx="27753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Analítica y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76237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Inteligencia de negocios aplicada.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390900"/>
            <a:ext cx="27753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Datos e Inventario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76237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Bases de datos estructuradas.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390900"/>
            <a:ext cx="27753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Patrimonio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76237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Revistas científicas en Honduras.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390900"/>
            <a:ext cx="277534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TIC y Tableau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3762375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Plataformas tecnológicas visuales.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00700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62200"/>
            <a:ext cx="2257425" cy="2028825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4725" y="2476500"/>
            <a:ext cx="225742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19850" y="2362200"/>
            <a:ext cx="2257425" cy="2028825"/>
          </a:xfrm>
          <a:prstGeom prst="roundRect">
            <a:avLst>
              <a:gd name="adj" fmla="val 56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4975" y="2476500"/>
            <a:ext cx="2257425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3271837"/>
            <a:ext cx="2667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27183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3271837"/>
            <a:ext cx="26670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07 / ARTICULACIÓN DE COAUTORÍA EN HOJA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Equipo de Coautores e Identificadores Scopus (UNITEC)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772150"/>
            <a:ext cx="30956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Distribución por Unidad Académica en UNITEC: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8575" y="5772150"/>
            <a:ext cx="7610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Facultad de Ingeniería (50% / 2 autores) • Escuela de Arte y Diseño (25% / 1 autor) • Dirección de Investigación (25% / 1 autor)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628900"/>
            <a:ext cx="19335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JetBrains Mono"/>
              </a:rPr>
              <a:t>AUTOR 01 • ID 6508341373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086100"/>
            <a:ext cx="24128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Reyna M. Duron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438525"/>
            <a:ext cx="1933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Dirección de Investigación, UNITEC Tegucigalpa.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275" y="2743200"/>
            <a:ext cx="19335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JetBrains Mono"/>
              </a:rPr>
              <a:t>AUTOR 02 • ID 25631706500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5" y="3200400"/>
            <a:ext cx="24128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Wilfredo C. Flores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552825"/>
            <a:ext cx="1933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Facultad de Ingeniería, UNITEC Tegucigalpa.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28900"/>
            <a:ext cx="19335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AUTOR 03 • ID 57216847118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86100"/>
            <a:ext cx="24128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DM Sans"/>
              </a:rPr>
              <a:t>Kevin Mejía Rivera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38525"/>
            <a:ext cx="1933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Escuela de Arte y Diseño, UNITEC Tegucigalpa.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4525" y="2743200"/>
            <a:ext cx="19335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JetBrains Mono"/>
              </a:rPr>
              <a:t>AUTOR 04 • ID 57193993565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4525" y="3200400"/>
            <a:ext cx="24128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Gracia M. Pineda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4525" y="3552825"/>
            <a:ext cx="1933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Facultad de Ingeniería, UNITEC Tegucigalpa.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0275"/>
            <a:ext cx="5257800" cy="3457575"/>
          </a:xfrm>
          <a:prstGeom prst="roundRect">
            <a:avLst>
              <a:gd name="adj" fmla="val 33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081212"/>
            <a:ext cx="5257800" cy="3695700"/>
          </a:xfrm>
          <a:prstGeom prst="roundRect">
            <a:avLst>
              <a:gd name="adj" fmla="val 309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08 / ANÁLISIS DE LA HOJA COLABORACIONES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Redes Institucionales: Coautoría Interna vs. Externa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54317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JetBrains Mono"/>
              </a:rPr>
              <a:t>RED EXTERNA (EXCLUYENDO UNITEC / CEUTEC)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47975"/>
            <a:ext cx="600075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DM Sans"/>
              </a:rPr>
              <a:t>Sin Colaboraciones Registradas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2424112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JetBrains Mono"/>
              </a:rPr>
              <a:t>COAUTORÍA INTERNA E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2728912"/>
            <a:ext cx="552450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DM Sans"/>
              </a:rPr>
              <a:t>Consolidación Multidisciplinaria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429000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Media (Promedio):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0 colaboraciones externas por publicación.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57650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Mediana Estadística: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0 instituciones externas vinculadas.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686300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Moda (Sin moda = -1):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Valor -1 en registro histórico.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076825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Agrupación 2019: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Sin colaboraciones hasta la fecha.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309937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Sede Institucional: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100% afiliación UNITEC Tegucigalpa.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938587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Densidad de Autoría: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4 coautores por artículo publicado.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4567237"/>
            <a:ext cx="5524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Sinergia Académica: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3 unidades internas articuladas.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4957762"/>
            <a:ext cx="4667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Oportunidad Estratégica: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Alianzas con universidades extranjeras.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09 / AUDITORÍA DE DATOS DE LA HOJA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Completitud de los 30 Campos Estándar de Scopus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93395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46796" y="1885950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JetBrains Mono"/>
              </a:rPr>
              <a:t>PLANTILLA GENERAL LISTA PARA USO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238375"/>
            <a:ext cx="11251406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DM Sans"/>
              </a:rPr>
              <a:t>Estructura Editable para Evaluación de Investigadores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762375"/>
            <a:ext cx="90487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DM Sans"/>
              </a:rPr>
              <a:t>Todos los bloques de texto, tablas e indicadores son directamente editables en pantalla y están acompañados por el archivo descargable en formato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